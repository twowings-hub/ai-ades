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howGuides="1">
      <p:cViewPr varScale="1">
        <p:scale>
          <a:sx n="104" d="100"/>
          <a:sy n="104" d="100"/>
        </p:scale>
        <p:origin x="73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D57824-A685-EF4E-1C07-D4E2FA0A12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EDA623-D93B-52A7-762A-EFF9B0031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B1690C-E295-B353-6555-D2A117154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6BB2-1D9F-4312-8DC9-AFA5C20F3FFC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6B57F0-04D3-73D4-9C1E-E516A4BE0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59D71C-4047-814A-C87E-57C086838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BC7C-7105-4F90-85C3-60D5D71EC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549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05F39-6D56-BC02-1813-F86DEAA0A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2208AA-25E4-7465-81CC-53F4E54CE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EF92AB-AED5-4E33-57BA-3B1C201E8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6BB2-1D9F-4312-8DC9-AFA5C20F3FFC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18DB0E-32C1-9A20-C1F8-C07864034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CFC53A-C8CC-20D8-8725-91102DA3C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BC7C-7105-4F90-85C3-60D5D71EC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556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1661FB-68A4-A005-8BB2-AE05FBDA6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864F08-B0C6-828F-3BB5-0D413AD5C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3A3A07-66A5-F6B7-1AEC-0CA27593B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6BB2-1D9F-4312-8DC9-AFA5C20F3FFC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3FBE36-EE4F-070C-F5C4-5BA4E13F2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C6AA7E-901E-CFC4-B1E7-77C2CE14A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BC7C-7105-4F90-85C3-60D5D71EC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417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0178C0-5348-7AA8-7CF7-5BCE5B0BF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AF19DF-EF81-5F99-846B-1A7E70C8A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7FB97C-AF28-6FA6-783C-F60203427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99AE72-CA01-3C8D-3C65-23A92B8DB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6BB2-1D9F-4312-8DC9-AFA5C20F3FFC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337739-CC94-BF05-7548-02C18B13E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A84650-9DC0-5036-10C9-114BCD13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BC7C-7105-4F90-85C3-60D5D71EC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93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93413F-89B9-00E4-D0DE-C42B3930B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F5EA-1246-71B1-73B4-E94E872B5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28B715-EE7B-F4AF-5E07-7C67C874A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A5E1F1-614D-F53A-8EF5-515654562F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CEAF097-FACB-BA8B-85D3-DAE363EC6B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4ADB912-D598-EA31-A74B-86FE7AA79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6BB2-1D9F-4312-8DC9-AFA5C20F3FFC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2E18CAE-734A-23DF-8937-2089A7775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2CA262C-BAE1-E9B7-520D-E20A76AC0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BC7C-7105-4F90-85C3-60D5D71EC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13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4A87F-593E-3738-A34E-8BE6C5236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D46C3F2-A943-1B64-D17B-768940F8E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6BB2-1D9F-4312-8DC9-AFA5C20F3FFC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3D7FE5-DC11-228D-759B-44587BA59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1D4A57-D1E8-1B93-51A3-9DB04DCB3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BC7C-7105-4F90-85C3-60D5D71EC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206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76FB893-7201-EF44-F412-75050837B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6BB2-1D9F-4312-8DC9-AFA5C20F3FFC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988B3DB-BB19-8C06-E457-DC26D3834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47235A-22C9-6348-A814-D07270407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BC7C-7105-4F90-85C3-60D5D71EC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494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7DB0B0-F36F-5267-2D73-7656769CD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EF1F8C-04FA-6B75-6BA8-96315E186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05BBD8-305E-AF97-A00F-FE1D5C247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9C1376-1230-318B-50BE-09D8A597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6BB2-1D9F-4312-8DC9-AFA5C20F3FFC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A04AB2-7433-127C-93D3-4C85D140E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A3524D-C6F8-CE5C-38C9-DC3A6072C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BC7C-7105-4F90-85C3-60D5D71EC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419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7688DC-959A-9567-4092-838B4F97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2FFCF9-98E9-8B13-1EBE-C95B1F4679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ABA157-E234-0D04-788E-F1502B23F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D410F2-6060-65AB-5F8F-1172E5F5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6BB2-1D9F-4312-8DC9-AFA5C20F3FFC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FF1AAF-A987-7338-9C16-D5E649509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0D586B-E846-338E-8731-2D272D008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BC7C-7105-4F90-85C3-60D5D71EC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796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58A9D-9CFF-A15A-BE68-7464760F0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502E486-E1DE-9BEF-1598-912624C46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BACA00-9F28-351E-D7CE-70DC49C77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6BB2-1D9F-4312-8DC9-AFA5C20F3FFC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9BD9C3-A73B-ECFB-22B2-63DACFCA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A6A183-B31D-20CC-AD28-52CB7674C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BC7C-7105-4F90-85C3-60D5D71EC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855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71168DB-2DD5-3729-F827-C66CA4A11E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00764A-215A-0816-03D3-3836F7CBE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A7BB7A-489F-A80E-15F5-43C30B363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6BB2-1D9F-4312-8DC9-AFA5C20F3FFC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84A88C-3633-8F0E-4210-3D11E588E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DD270A-0CAA-6100-E053-CE23B2FE7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3BC7C-7105-4F90-85C3-60D5D71EC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13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4EC589-708D-CCA4-4374-2294FFB9D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15F7A0-4798-4EC4-F47C-CD0DCFF14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7CA3CE-E29D-8781-ADA4-4A878F388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C6BB2-1D9F-4312-8DC9-AFA5C20F3FFC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07E1C1-B9D1-1572-F2D9-C18CC65D9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ADF007-3B73-E43F-A60C-02447C296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3BC7C-7105-4F90-85C3-60D5D71EC3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061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00A04-8095-E93F-6CA1-89DBCAE6F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EA94BA-FF53-82B9-E9F3-34A194B0134C}"/>
              </a:ext>
            </a:extLst>
          </p:cNvPr>
          <p:cNvSpPr txBox="1"/>
          <p:nvPr/>
        </p:nvSpPr>
        <p:spPr>
          <a:xfrm>
            <a:off x="1559496" y="428178"/>
            <a:ext cx="9289032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/>
              <a:t>AI </a:t>
            </a:r>
            <a:r>
              <a:rPr lang="ko-KR" altLang="en-US" sz="2400" b="1"/>
              <a:t>솔루션 제공사 역할</a:t>
            </a:r>
            <a:endParaRPr lang="en-US" altLang="ko-KR" sz="2400" b="1"/>
          </a:p>
          <a:p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실험 설비의 자동 데이터 파이프라인 구성</a:t>
            </a:r>
            <a:endParaRPr lang="en-US" altLang="ko-KR"/>
          </a:p>
          <a:p>
            <a:r>
              <a:rPr lang="en-US" altLang="ko-KR"/>
              <a:t>     - </a:t>
            </a:r>
            <a:r>
              <a:rPr lang="ko-KR" altLang="en-US"/>
              <a:t>실험 설비 데이터 자동 취득 및 학습 자동화 기술 구현</a:t>
            </a:r>
            <a:endParaRPr lang="en-US" altLang="ko-KR"/>
          </a:p>
          <a:p>
            <a:r>
              <a:rPr lang="en-US" altLang="ko-KR"/>
              <a:t>     - AI</a:t>
            </a:r>
            <a:r>
              <a:rPr lang="ko-KR" altLang="en-US"/>
              <a:t>를 위한 </a:t>
            </a:r>
            <a:r>
              <a:rPr lang="en-US" altLang="ko-KR"/>
              <a:t>HW </a:t>
            </a:r>
            <a:r>
              <a:rPr lang="ko-KR" altLang="en-US"/>
              <a:t>구성</a:t>
            </a:r>
            <a:endParaRPr lang="en-US" altLang="ko-KR"/>
          </a:p>
          <a:p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소재</a:t>
            </a:r>
            <a:r>
              <a:rPr lang="en-US" altLang="ko-KR"/>
              <a:t>, </a:t>
            </a:r>
            <a:r>
              <a:rPr lang="ko-KR" altLang="en-US"/>
              <a:t>설비</a:t>
            </a:r>
            <a:r>
              <a:rPr lang="en-US" altLang="ko-KR"/>
              <a:t>, </a:t>
            </a:r>
            <a:r>
              <a:rPr lang="ko-KR" altLang="en-US"/>
              <a:t>센서 데이터를 학습하여 품질 결과의 상관관계를 모델링하고</a:t>
            </a:r>
            <a:r>
              <a:rPr lang="en-US" altLang="ko-KR"/>
              <a:t>, </a:t>
            </a:r>
            <a:r>
              <a:rPr lang="ko-KR" altLang="en-US"/>
              <a:t>정합성 확보 </a:t>
            </a:r>
            <a:r>
              <a:rPr lang="en-US" altLang="ko-KR"/>
              <a:t>– </a:t>
            </a:r>
            <a:r>
              <a:rPr lang="ko-KR" altLang="en-US"/>
              <a:t>최적 제어 조건 제안</a:t>
            </a:r>
            <a:endParaRPr lang="en-US" altLang="ko-KR"/>
          </a:p>
          <a:p>
            <a:r>
              <a:rPr lang="en-US" altLang="ko-KR"/>
              <a:t>     ex) Parameter A</a:t>
            </a:r>
            <a:r>
              <a:rPr lang="ko-KR" altLang="en-US"/>
              <a:t>값 </a:t>
            </a:r>
            <a:r>
              <a:rPr lang="en-US" altLang="ko-KR"/>
              <a:t>700 </a:t>
            </a:r>
            <a:r>
              <a:rPr lang="ko-KR" altLang="en-US"/>
              <a:t>제한 시 해당 조건에서의 목표 깊이 만족하는 최적 </a:t>
            </a:r>
            <a:r>
              <a:rPr lang="en-US" altLang="ko-KR"/>
              <a:t>parameter </a:t>
            </a:r>
            <a:r>
              <a:rPr lang="ko-KR" altLang="en-US"/>
              <a:t>제안</a:t>
            </a:r>
            <a:endParaRPr lang="en-US" altLang="ko-KR"/>
          </a:p>
          <a:p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공정시 센서 모니터링을 통한 가공 환경 이상발생 여부 감지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설비 자동운영 기술 구현</a:t>
            </a:r>
            <a:endParaRPr lang="en-US" altLang="ko-KR"/>
          </a:p>
          <a:p>
            <a:r>
              <a:rPr lang="en-US" altLang="ko-KR"/>
              <a:t>     - </a:t>
            </a:r>
            <a:r>
              <a:rPr lang="ko-KR" altLang="en-US"/>
              <a:t>신규 기판 적용시 </a:t>
            </a:r>
            <a:r>
              <a:rPr lang="en-US" altLang="ko-KR"/>
              <a:t>AI </a:t>
            </a:r>
            <a:r>
              <a:rPr lang="ko-KR" altLang="en-US"/>
              <a:t>주도 자동 </a:t>
            </a:r>
            <a:r>
              <a:rPr lang="en-US" altLang="ko-KR"/>
              <a:t>DOE  </a:t>
            </a:r>
            <a:r>
              <a:rPr lang="ko-KR" altLang="en-US"/>
              <a:t>진행을 통한 데이터 최적 제어 조건 제안</a:t>
            </a:r>
            <a:endParaRPr lang="en-US" altLang="ko-KR"/>
          </a:p>
          <a:p>
            <a:r>
              <a:rPr lang="en-US" altLang="ko-KR"/>
              <a:t>         - </a:t>
            </a:r>
            <a:r>
              <a:rPr lang="ko-KR" altLang="en-US"/>
              <a:t>목표 </a:t>
            </a:r>
            <a:r>
              <a:rPr lang="en-US" altLang="ko-KR"/>
              <a:t>: </a:t>
            </a:r>
            <a:r>
              <a:rPr lang="ko-KR" altLang="en-US"/>
              <a:t>사람 대비 </a:t>
            </a:r>
            <a:r>
              <a:rPr lang="en-US" altLang="ko-KR"/>
              <a:t>DOE </a:t>
            </a:r>
            <a:r>
              <a:rPr lang="ko-KR" altLang="en-US"/>
              <a:t>횟수 감소</a:t>
            </a:r>
            <a:endParaRPr lang="en-US" altLang="ko-KR"/>
          </a:p>
          <a:p>
            <a:r>
              <a:rPr lang="en-US" altLang="ko-KR"/>
              <a:t>     - </a:t>
            </a:r>
            <a:r>
              <a:rPr lang="ko-KR" altLang="en-US"/>
              <a:t>레시피 생성 및 제어 </a:t>
            </a:r>
            <a:r>
              <a:rPr lang="en-US" altLang="ko-KR"/>
              <a:t>PC </a:t>
            </a:r>
            <a:r>
              <a:rPr lang="ko-KR" altLang="en-US"/>
              <a:t>전달 시스템 구현</a:t>
            </a:r>
            <a:endParaRPr lang="en-US" altLang="ko-KR"/>
          </a:p>
          <a:p>
            <a:r>
              <a:rPr lang="en-US" altLang="ko-KR"/>
              <a:t>     - AI </a:t>
            </a:r>
            <a:r>
              <a:rPr lang="ko-KR" altLang="en-US"/>
              <a:t>모델 재학습 혹은 신규 학습 지원</a:t>
            </a:r>
            <a:endParaRPr lang="en-US" altLang="ko-KR"/>
          </a:p>
          <a:p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/>
              <a:t>최종 결과물</a:t>
            </a:r>
            <a:endParaRPr lang="en-US" altLang="ko-KR" b="1"/>
          </a:p>
          <a:p>
            <a:r>
              <a:rPr lang="en-US" altLang="ko-KR" b="1"/>
              <a:t>     - </a:t>
            </a:r>
            <a:r>
              <a:rPr lang="ko-KR" altLang="en-US" b="1"/>
              <a:t>가공 깊이 타겟을 만족시킬 수 있는 </a:t>
            </a:r>
            <a:r>
              <a:rPr lang="en-US" altLang="ko-KR" b="1"/>
              <a:t>input parameter </a:t>
            </a:r>
            <a:r>
              <a:rPr lang="ko-KR" altLang="en-US" b="1"/>
              <a:t>제안 모델링</a:t>
            </a:r>
            <a:endParaRPr lang="en-US" altLang="ko-KR" b="1"/>
          </a:p>
          <a:p>
            <a:r>
              <a:rPr lang="en-US" altLang="ko-KR" b="1"/>
              <a:t>     - </a:t>
            </a:r>
            <a:r>
              <a:rPr lang="ko-KR" altLang="en-US" b="1"/>
              <a:t>실험 설비에서의 공정 자동평가 운영 시연</a:t>
            </a:r>
            <a:endParaRPr lang="en-US" altLang="ko-KR" b="1"/>
          </a:p>
        </p:txBody>
      </p:sp>
    </p:spTree>
    <p:extLst>
      <p:ext uri="{BB962C8B-B14F-4D97-AF65-F5344CB8AC3E}">
        <p14:creationId xmlns:p14="http://schemas.microsoft.com/office/powerpoint/2010/main" val="1561404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66CA8-C4BF-7E71-9D75-2191938C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493655-B3B1-77C0-9F13-AD997FDFC63B}"/>
              </a:ext>
            </a:extLst>
          </p:cNvPr>
          <p:cNvSpPr txBox="1"/>
          <p:nvPr/>
        </p:nvSpPr>
        <p:spPr>
          <a:xfrm>
            <a:off x="1559496" y="428178"/>
            <a:ext cx="928903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/>
              <a:t>삼성디스플레이역할</a:t>
            </a:r>
            <a:endParaRPr lang="en-US" altLang="ko-KR" sz="2400" b="1"/>
          </a:p>
          <a:p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사외에서 실험 가능한 설비 준비</a:t>
            </a:r>
            <a:endParaRPr lang="en-US" altLang="ko-KR"/>
          </a:p>
          <a:p>
            <a:r>
              <a:rPr lang="en-US" altLang="ko-KR"/>
              <a:t>     (</a:t>
            </a:r>
            <a:r>
              <a:rPr lang="ko-KR" altLang="en-US"/>
              <a:t>레이저 </a:t>
            </a:r>
            <a:r>
              <a:rPr lang="en-US" altLang="ko-KR"/>
              <a:t>2</a:t>
            </a:r>
            <a:r>
              <a:rPr lang="ko-KR" altLang="en-US"/>
              <a:t>종</a:t>
            </a:r>
            <a:r>
              <a:rPr lang="en-US" altLang="ko-KR"/>
              <a:t>, </a:t>
            </a:r>
            <a:r>
              <a:rPr lang="ko-KR" altLang="en-US"/>
              <a:t>스테이지</a:t>
            </a:r>
            <a:r>
              <a:rPr lang="en-US" altLang="ko-KR"/>
              <a:t>, </a:t>
            </a:r>
            <a:r>
              <a:rPr lang="ko-KR" altLang="en-US"/>
              <a:t>비전</a:t>
            </a:r>
            <a:r>
              <a:rPr lang="en-US" altLang="ko-KR"/>
              <a:t>, </a:t>
            </a:r>
            <a:r>
              <a:rPr lang="ko-KR" altLang="en-US"/>
              <a:t>센서장착부</a:t>
            </a:r>
            <a:r>
              <a:rPr lang="en-US" altLang="ko-KR"/>
              <a:t>, AI</a:t>
            </a:r>
            <a:r>
              <a:rPr lang="ko-KR" altLang="en-US"/>
              <a:t>관련 </a:t>
            </a:r>
            <a:r>
              <a:rPr lang="en-US" altLang="ko-KR"/>
              <a:t>PC)</a:t>
            </a:r>
          </a:p>
          <a:p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실험 설비의 자동 데이터 파이프라인 구성을 위한 하드웨어 분야 담당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공정 마진</a:t>
            </a:r>
            <a:r>
              <a:rPr lang="en-US" altLang="ko-KR"/>
              <a:t>/</a:t>
            </a:r>
            <a:r>
              <a:rPr lang="ko-KR" altLang="en-US"/>
              <a:t>최적화 센싱에 적합한 센서 선정 및 하드웨어 구성</a:t>
            </a:r>
            <a:endParaRPr lang="en-US" altLang="ko-KR"/>
          </a:p>
          <a:p>
            <a:r>
              <a:rPr lang="en-US" altLang="ko-KR"/>
              <a:t>     - POC </a:t>
            </a:r>
            <a:r>
              <a:rPr lang="ko-KR" altLang="en-US"/>
              <a:t>데이터는 </a:t>
            </a:r>
            <a:r>
              <a:rPr lang="en-US" altLang="ko-KR"/>
              <a:t>Sensor 1</a:t>
            </a:r>
            <a:r>
              <a:rPr lang="ko-KR" altLang="en-US"/>
              <a:t>종 </a:t>
            </a:r>
            <a:r>
              <a:rPr lang="en-US" altLang="ko-KR"/>
              <a:t>-&gt; </a:t>
            </a:r>
            <a:r>
              <a:rPr lang="ko-KR" altLang="en-US"/>
              <a:t>추후 추가 예정</a:t>
            </a:r>
            <a:endParaRPr lang="en-US" altLang="ko-KR"/>
          </a:p>
          <a:p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공정 조건 데이터 수집을 위한 공정 실험 및 계측 실험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POC </a:t>
            </a:r>
            <a:r>
              <a:rPr lang="ko-KR" altLang="en-US"/>
              <a:t>데이터 제공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42286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7B06B-F414-E885-FD19-C226E05A3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44EA11-A84F-2569-2601-FBF3D0C00553}"/>
              </a:ext>
            </a:extLst>
          </p:cNvPr>
          <p:cNvSpPr txBox="1"/>
          <p:nvPr/>
        </p:nvSpPr>
        <p:spPr>
          <a:xfrm>
            <a:off x="1559496" y="428178"/>
            <a:ext cx="928903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/>
              <a:t>POC </a:t>
            </a:r>
            <a:r>
              <a:rPr lang="ko-KR" altLang="en-US" sz="2400" b="1"/>
              <a:t>관련 요청사항</a:t>
            </a:r>
            <a:endParaRPr lang="en-US" altLang="ko-KR" sz="2400" b="1"/>
          </a:p>
          <a:p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하단 표 조건에 맞는 </a:t>
            </a:r>
            <a:r>
              <a:rPr lang="en-US" altLang="ko-KR"/>
              <a:t>Input parameter </a:t>
            </a:r>
            <a:r>
              <a:rPr lang="ko-KR" altLang="en-US"/>
              <a:t>제안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결과값</a:t>
            </a:r>
            <a:r>
              <a:rPr lang="en-US" altLang="ko-KR"/>
              <a:t>(Depth, Kerf)</a:t>
            </a:r>
            <a:r>
              <a:rPr lang="ko-KR" altLang="en-US"/>
              <a:t>과 </a:t>
            </a:r>
            <a:r>
              <a:rPr lang="en-US" altLang="ko-KR"/>
              <a:t>Plasma Sensor Data </a:t>
            </a:r>
            <a:r>
              <a:rPr lang="ko-KR" altLang="en-US"/>
              <a:t>의 상관성 여부</a:t>
            </a:r>
            <a:endParaRPr lang="en-US" altLang="ko-KR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ACF9F8A-9F3C-0DBE-D959-71A2522EEEAA}"/>
              </a:ext>
            </a:extLst>
          </p:cNvPr>
          <p:cNvGraphicFramePr>
            <a:graphicFrameLocks noGrp="1"/>
          </p:cNvGraphicFramePr>
          <p:nvPr/>
        </p:nvGraphicFramePr>
        <p:xfrm>
          <a:off x="1883532" y="1997838"/>
          <a:ext cx="8640961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8093">
                  <a:extLst>
                    <a:ext uri="{9D8B030D-6E8A-4147-A177-3AD203B41FA5}">
                      <a16:colId xmlns:a16="http://schemas.microsoft.com/office/drawing/2014/main" val="164205481"/>
                    </a:ext>
                  </a:extLst>
                </a:gridCol>
                <a:gridCol w="1260139">
                  <a:extLst>
                    <a:ext uri="{9D8B030D-6E8A-4147-A177-3AD203B41FA5}">
                      <a16:colId xmlns:a16="http://schemas.microsoft.com/office/drawing/2014/main" val="3173857888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658984657"/>
                    </a:ext>
                  </a:extLst>
                </a:gridCol>
                <a:gridCol w="1841348">
                  <a:extLst>
                    <a:ext uri="{9D8B030D-6E8A-4147-A177-3AD203B41FA5}">
                      <a16:colId xmlns:a16="http://schemas.microsoft.com/office/drawing/2014/main" val="1306312256"/>
                    </a:ext>
                  </a:extLst>
                </a:gridCol>
                <a:gridCol w="1234423">
                  <a:extLst>
                    <a:ext uri="{9D8B030D-6E8A-4147-A177-3AD203B41FA5}">
                      <a16:colId xmlns:a16="http://schemas.microsoft.com/office/drawing/2014/main" val="3487858200"/>
                    </a:ext>
                  </a:extLst>
                </a:gridCol>
                <a:gridCol w="1234423">
                  <a:extLst>
                    <a:ext uri="{9D8B030D-6E8A-4147-A177-3AD203B41FA5}">
                      <a16:colId xmlns:a16="http://schemas.microsoft.com/office/drawing/2014/main" val="1626113123"/>
                    </a:ext>
                  </a:extLst>
                </a:gridCol>
                <a:gridCol w="1234423">
                  <a:extLst>
                    <a:ext uri="{9D8B030D-6E8A-4147-A177-3AD203B41FA5}">
                      <a16:colId xmlns:a16="http://schemas.microsoft.com/office/drawing/2014/main" val="410101631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Target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고정 </a:t>
                      </a:r>
                      <a:r>
                        <a:rPr lang="en-US" altLang="ko-KR"/>
                        <a:t>parameter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최적</a:t>
                      </a:r>
                      <a:r>
                        <a:rPr lang="en-US" altLang="ko-KR"/>
                        <a:t> input parameter </a:t>
                      </a:r>
                      <a:r>
                        <a:rPr lang="ko-KR" altLang="en-US"/>
                        <a:t>제안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95793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Kerf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Depth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Speed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Defocus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Frequency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Power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284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200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300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880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300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300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387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200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300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848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4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300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300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292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5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200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700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082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6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300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700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7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7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200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700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527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8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300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700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147998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marL="285750" indent="-285750" algn="ctr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/>
                        <a:t>Frequency </a:t>
                      </a:r>
                      <a:r>
                        <a:rPr lang="ko-KR" altLang="en-US"/>
                        <a:t>는 </a:t>
                      </a:r>
                      <a:r>
                        <a:rPr lang="en-US" altLang="ko-KR"/>
                        <a:t>100/200 </a:t>
                      </a:r>
                      <a:r>
                        <a:rPr lang="ko-KR" altLang="en-US"/>
                        <a:t>중</a:t>
                      </a:r>
                      <a:r>
                        <a:rPr lang="en-US" altLang="ko-KR"/>
                        <a:t> </a:t>
                      </a:r>
                      <a:r>
                        <a:rPr lang="ko-KR" altLang="en-US"/>
                        <a:t>최적 </a:t>
                      </a:r>
                      <a:r>
                        <a:rPr lang="en-US" altLang="ko-KR"/>
                        <a:t>parameter </a:t>
                      </a:r>
                      <a:r>
                        <a:rPr lang="ko-KR" altLang="en-US"/>
                        <a:t>선택</a:t>
                      </a:r>
                      <a:endParaRPr lang="en-US" altLang="ko-KR"/>
                    </a:p>
                    <a:p>
                      <a:pPr marL="285750" indent="-285750" algn="ctr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/>
                        <a:t>Defocus, Power </a:t>
                      </a:r>
                      <a:r>
                        <a:rPr lang="ko-KR" altLang="en-US"/>
                        <a:t>는 실수값으로 </a:t>
                      </a:r>
                      <a:r>
                        <a:rPr lang="en-US" altLang="ko-KR"/>
                        <a:t>parameter </a:t>
                      </a:r>
                      <a:r>
                        <a:rPr lang="ko-KR" altLang="en-US"/>
                        <a:t>선택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19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0047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FDD98-232F-379B-A73F-7E52D83C2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41D99A-A904-7008-37E6-1FEDFDE3DF2A}"/>
              </a:ext>
            </a:extLst>
          </p:cNvPr>
          <p:cNvSpPr txBox="1"/>
          <p:nvPr/>
        </p:nvSpPr>
        <p:spPr>
          <a:xfrm>
            <a:off x="1559496" y="428179"/>
            <a:ext cx="9289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/>
              <a:t>시스템 구성 안</a:t>
            </a:r>
            <a:endParaRPr lang="en-US" altLang="ko-KR" sz="2400" b="1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FC8BD81-8C60-C3F7-9A13-888C437DCB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6" t="21807" b="3684"/>
          <a:stretch>
            <a:fillRect/>
          </a:stretch>
        </p:blipFill>
        <p:spPr bwMode="auto">
          <a:xfrm>
            <a:off x="2279577" y="1844824"/>
            <a:ext cx="7110079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1656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</Words>
  <Application>Microsoft Office PowerPoint</Application>
  <PresentationFormat>와이드스크린</PresentationFormat>
  <Paragraphs>82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수연 최</dc:creator>
  <cp:lastModifiedBy>수연 최</cp:lastModifiedBy>
  <cp:revision>1</cp:revision>
  <dcterms:created xsi:type="dcterms:W3CDTF">2026-06-05T07:02:32Z</dcterms:created>
  <dcterms:modified xsi:type="dcterms:W3CDTF">2026-06-05T07:03:19Z</dcterms:modified>
</cp:coreProperties>
</file>